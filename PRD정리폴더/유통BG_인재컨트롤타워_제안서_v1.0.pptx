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B62E6"/>
          </a:solidFill>
          <a:ln w="12700">
            <a:solidFill>
              <a:srgbClr val="3B6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1E40AF">
              <a:alpha val="20000"/>
            </a:srgbClr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457200"/>
            <a:ext cx="2560320" cy="2560320"/>
          </a:xfrm>
          <a:prstGeom prst="ellipse">
            <a:avLst/>
          </a:prstGeom>
          <a:solidFill>
            <a:srgbClr val="3B62E6">
              <a:alpha val="15000"/>
            </a:srgbClr>
          </a:solidFill>
          <a:ln w="12700">
            <a:solidFill>
              <a:srgbClr val="3B62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0292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3B62E6">
              <a:alpha val="6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02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CHO · 인사실장 보고용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유통BG 인재 컨트롤타워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</a:rPr>
              <a:t>사람이 전략이다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5786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78E9C"/>
                </a:solidFill>
              </a:rPr>
              <a:t>데이터 기반 인재 리스크 관리 플랫폼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090672"/>
            <a:ext cx="3200400" cy="27432"/>
          </a:xfrm>
          <a:prstGeom prst="rect">
            <a:avLst/>
          </a:prstGeom>
          <a:solidFill>
            <a:srgbClr val="3B62E6"/>
          </a:solidFill>
          <a:ln w="12700">
            <a:solidFill>
              <a:srgbClr val="3B62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78E9C"/>
                </a:solidFill>
              </a:rPr>
              <a:t>2026. 05. 31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4526280"/>
            <a:ext cx="914400" cy="411480"/>
          </a:xfrm>
          <a:prstGeom prst="rect">
            <a:avLst/>
          </a:prstGeom>
          <a:solidFill>
            <a:srgbClr val="3B62E6"/>
          </a:solidFill>
          <a:ln w="12700">
            <a:solidFill>
              <a:srgbClr val="3B62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4526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62E6"/>
                </a:solidFill>
              </a:rPr>
              <a:t>문제 정의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</a:rPr>
              <a:t>지금, 우리 조직의 인재 리스크는 관리되고 있는가?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600200"/>
            <a:ext cx="502920" cy="502920"/>
          </a:xfrm>
          <a:prstGeom prst="ellipse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3B30"/>
                </a:solidFill>
              </a:rPr>
              <a:t>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</a:rPr>
              <a:t>승계 계획 부재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63347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9"/>
                </a:solidFill>
              </a:rPr>
              <a:t>"핵심 포스트 담당자가 내일 나간다면?" — 후계자가 없다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4206240"/>
            <a:ext cx="2194560" cy="320040"/>
          </a:xfrm>
          <a:prstGeom prst="rect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206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3B30"/>
                </a:solidFill>
              </a:rPr>
              <a:t>즉각적 업무 공백, 비즈니스 연속성 위협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389888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600200"/>
            <a:ext cx="502920" cy="502920"/>
          </a:xfrm>
          <a:prstGeom prst="ellipse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400"/>
                </a:solidFill>
              </a:rPr>
              <a:t>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22402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</a:rPr>
              <a:t>인재 정보 분산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263347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9"/>
                </a:solidFill>
              </a:rPr>
              <a:t>엑셀·구두·감(感)으로 관리되는 인재 데이터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29000" y="4206240"/>
            <a:ext cx="2194560" cy="320040"/>
          </a:xfrm>
          <a:prstGeom prst="rect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4206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C400"/>
                </a:solidFill>
              </a:rPr>
              <a:t>의사결정 지연, 인사 발령 논리 부재, 이의제기 빈발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1389888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1600200"/>
            <a:ext cx="502920" cy="502920"/>
          </a:xfrm>
          <a:prstGeom prst="ellipse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</a:rPr>
              <a:t>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22402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</a:rPr>
              <a:t>경영진 가시성 Zero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263347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9"/>
                </a:solidFill>
              </a:rPr>
              <a:t>CHRO가 경영진에게 인재 리스크를 숫자로 보고할 수단이 없다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4206240"/>
            <a:ext cx="2194560" cy="32004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4206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40AF"/>
                </a:solidFill>
              </a:rPr>
              <a:t>HR이 전략 파트너가 아닌 행정 부서로 인식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78E9C"/>
                </a:solidFill>
              </a:rPr>
              <a:t>* 유통BG 내부 HR 운영 현황 기반 분석 (시연 데이터)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62E6"/>
                </a:solidFill>
              </a:rPr>
              <a:t>솔루션 개요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</a:rPr>
              <a:t>인재 컨트롤타워 — 핵심 포스트와 인재를 하나의 플랫폼으로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475488" cy="1645920"/>
          </a:xfrm>
          <a:prstGeom prst="rect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4754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3B30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4447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</a:rPr>
              <a:t>핵심 포스트 노출판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828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9"/>
                </a:solidFill>
              </a:rPr>
              <a:t>9개 조직 승계 매트릭스를 신호등으로 시각화. 빨강/노랑/파란불로 즉시 리스크 파악.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80160"/>
            <a:ext cx="475488" cy="164592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80160"/>
            <a:ext cx="4754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62E6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4447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</a:rPr>
              <a:t>AI 후보 추천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1828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9"/>
                </a:solidFill>
              </a:rPr>
              <a:t>내부 인재 프로파일 기반 scoreTalent V8.0으로 포스트별 최적 후보를 자동 랭킹.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54680"/>
            <a:ext cx="475488" cy="1645920"/>
          </a:xfrm>
          <a:prstGeom prst="rect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54680"/>
            <a:ext cx="4754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400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3192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</a:rPr>
              <a:t>외부 인재 파이프라인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7033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9"/>
                </a:solidFill>
              </a:rPr>
              <a:t>이력서 AI 파싱 → 포스트 매칭 → 5단계 채용 파이프라인 → 비즈니스 시나리오 생성.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15468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154680"/>
            <a:ext cx="475488" cy="1645920"/>
          </a:xfrm>
          <a:prstGeom prst="rect">
            <a:avLst/>
          </a:prstGeom>
          <a:solidFill>
            <a:srgbClr val="E4F8EE"/>
          </a:solidFill>
          <a:ln w="12700">
            <a:solidFill>
              <a:srgbClr val="E4F8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154680"/>
            <a:ext cx="4754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C46A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33192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</a:rPr>
              <a:t>경영진 대시보드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37033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9"/>
                </a:solidFill>
              </a:rPr>
              <a:t>조직 건강도·승계 준비율을 경영 언어로 요약. CHO가 5분 안에 전체 현황을 파악.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62E6"/>
                </a:solidFill>
              </a:rPr>
              <a:t>제품 화면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81D"/>
                </a:solidFill>
              </a:rPr>
              <a:t>핵심 포스트 노출판 — 한눈에 보는 조직 승계 현황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3657600"/>
          </a:xfrm>
          <a:prstGeom prst="rect">
            <a:avLst/>
          </a:prstGeom>
          <a:solidFill>
            <a:srgbClr val="F6F7F9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1371600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19072"/>
            <a:ext cx="1371600" cy="365760"/>
          </a:xfrm>
          <a:prstGeom prst="rect">
            <a:avLst/>
          </a:prstGeom>
          <a:solidFill>
            <a:srgbClr val="3B62E6">
              <a:alpha val="30000"/>
            </a:srgbClr>
          </a:solidFill>
          <a:ln w="12700">
            <a:solidFill>
              <a:srgbClr val="3B62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373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핵심 포스트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78E9C"/>
                </a:solidFill>
              </a:rPr>
              <a:t>외부 인재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78E9C"/>
                </a:solidFill>
              </a:rPr>
              <a:t>내부 인재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78E9C"/>
                </a:solidFill>
              </a:rPr>
              <a:t>경영 대시보드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37360" y="1097280"/>
            <a:ext cx="7040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1161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</a:rPr>
              <a:t>핵심 포스트 노출판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28800" y="1691640"/>
            <a:ext cx="1536192" cy="68580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1719072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0AF"/>
                </a:solidFill>
              </a:rPr>
              <a:t>44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28800" y="2057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40AF"/>
                </a:solidFill>
              </a:rPr>
              <a:t>전체 포스트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93008" y="1691640"/>
            <a:ext cx="1536192" cy="685800"/>
          </a:xfrm>
          <a:prstGeom prst="rect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1719072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3B30"/>
                </a:solidFill>
              </a:rPr>
              <a:t>17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93008" y="2057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3B30"/>
                </a:solidFill>
              </a:rPr>
              <a:t>즉시 위험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157216" y="1691640"/>
            <a:ext cx="1536192" cy="685800"/>
          </a:xfrm>
          <a:prstGeom prst="rect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57216" y="1719072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400"/>
                </a:solidFill>
              </a:rPr>
              <a:t>22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157216" y="2057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C400"/>
                </a:solidFill>
              </a:rPr>
              <a:t>모니터링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21424" y="1691640"/>
            <a:ext cx="1536192" cy="685800"/>
          </a:xfrm>
          <a:prstGeom prst="rect">
            <a:avLst/>
          </a:prstGeom>
          <a:solidFill>
            <a:srgbClr val="E4F8EE"/>
          </a:solidFill>
          <a:ln w="12700">
            <a:solidFill>
              <a:srgbClr val="E4F8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21424" y="1719072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C46A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21424" y="2057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C46A"/>
                </a:solidFill>
              </a:rPr>
              <a:t>EBG 통과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28800" y="2514600"/>
            <a:ext cx="548640" cy="274320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2514600"/>
            <a:ext cx="1188720" cy="274320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0" y="25237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78E9C"/>
                </a:solidFill>
              </a:rPr>
              <a:t>F1 현직자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566160" y="2514600"/>
            <a:ext cx="1188720" cy="274320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25237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78E9C"/>
                </a:solidFill>
              </a:rPr>
              <a:t>F2 후계자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754880" y="2514600"/>
            <a:ext cx="1188720" cy="274320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5237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78E9C"/>
                </a:solidFill>
              </a:rPr>
              <a:t>F3 후계자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943600" y="2514600"/>
            <a:ext cx="1188720" cy="274320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25237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78E9C"/>
                </a:solidFill>
              </a:rPr>
              <a:t>날개과업1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132320" y="2514600"/>
            <a:ext cx="1188720" cy="274320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0" y="25237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78E9C"/>
                </a:solidFill>
              </a:rPr>
              <a:t>날개과업2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828800" y="2834640"/>
            <a:ext cx="548640" cy="274320"/>
          </a:xfrm>
          <a:prstGeom prst="rect">
            <a:avLst/>
          </a:prstGeom>
          <a:solidFill>
            <a:srgbClr val="F6F7F9"/>
          </a:solidFill>
          <a:ln w="3810">
            <a:solidFill>
              <a:srgbClr val="EAEC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0" y="28529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181D"/>
                </a:solidFill>
              </a:rPr>
              <a:t>유통BG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450592" y="2871216"/>
            <a:ext cx="1042416" cy="201168"/>
          </a:xfrm>
          <a:prstGeom prst="rect">
            <a:avLst/>
          </a:prstGeom>
          <a:solidFill>
            <a:srgbClr val="FFC400">
              <a:alpha val="70000"/>
            </a:srgbClr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39312" y="2871216"/>
            <a:ext cx="1042416" cy="201168"/>
          </a:xfrm>
          <a:prstGeom prst="rect">
            <a:avLst/>
          </a:prstGeom>
          <a:solidFill>
            <a:srgbClr val="FF3B30">
              <a:alpha val="70000"/>
            </a:srgbClr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28032" y="2871216"/>
            <a:ext cx="1042416" cy="201168"/>
          </a:xfrm>
          <a:prstGeom prst="rect">
            <a:avLst/>
          </a:prstGeom>
          <a:solidFill>
            <a:srgbClr val="FF3B30">
              <a:alpha val="70000"/>
            </a:srgbClr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16752" y="2871216"/>
            <a:ext cx="1042416" cy="201168"/>
          </a:xfrm>
          <a:prstGeom prst="rect">
            <a:avLst/>
          </a:prstGeom>
          <a:solidFill>
            <a:srgbClr val="FFC400">
              <a:alpha val="70000"/>
            </a:srgbClr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05472" y="2871216"/>
            <a:ext cx="1042416" cy="201168"/>
          </a:xfrm>
          <a:prstGeom prst="rect">
            <a:avLst/>
          </a:prstGeom>
          <a:solidFill>
            <a:srgbClr val="FFC400">
              <a:alpha val="70000"/>
            </a:srgbClr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28800" y="3154680"/>
            <a:ext cx="548640" cy="274320"/>
          </a:xfrm>
          <a:prstGeom prst="rect">
            <a:avLst/>
          </a:prstGeom>
          <a:solidFill>
            <a:srgbClr val="F6F7F9"/>
          </a:solidFill>
          <a:ln w="3810">
            <a:solidFill>
              <a:srgbClr val="EAEC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28800" y="31729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181D"/>
                </a:solidFill>
              </a:rPr>
              <a:t>HO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450592" y="3191256"/>
            <a:ext cx="1042416" cy="201168"/>
          </a:xfrm>
          <a:prstGeom prst="rect">
            <a:avLst/>
          </a:prstGeom>
          <a:solidFill>
            <a:srgbClr val="FFC400">
              <a:alpha val="70000"/>
            </a:srgbClr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39312" y="3191256"/>
            <a:ext cx="1042416" cy="201168"/>
          </a:xfrm>
          <a:prstGeom prst="rect">
            <a:avLst/>
          </a:prstGeom>
          <a:solidFill>
            <a:srgbClr val="FF3B30">
              <a:alpha val="70000"/>
            </a:srgbClr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28032" y="3191256"/>
            <a:ext cx="1042416" cy="201168"/>
          </a:xfrm>
          <a:prstGeom prst="rect">
            <a:avLst/>
          </a:prstGeom>
          <a:solidFill>
            <a:srgbClr val="FFC400">
              <a:alpha val="70000"/>
            </a:srgbClr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16752" y="3191256"/>
            <a:ext cx="1042416" cy="201168"/>
          </a:xfrm>
          <a:prstGeom prst="rect">
            <a:avLst/>
          </a:prstGeom>
          <a:solidFill>
            <a:srgbClr val="FFC400">
              <a:alpha val="70000"/>
            </a:srgbClr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05472" y="3191256"/>
            <a:ext cx="1042416" cy="201168"/>
          </a:xfrm>
          <a:prstGeom prst="rect">
            <a:avLst/>
          </a:prstGeom>
          <a:solidFill>
            <a:srgbClr val="FF3B30">
              <a:alpha val="70000"/>
            </a:srgbClr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28800" y="3474720"/>
            <a:ext cx="548640" cy="274320"/>
          </a:xfrm>
          <a:prstGeom prst="rect">
            <a:avLst/>
          </a:prstGeom>
          <a:solidFill>
            <a:srgbClr val="F6F7F9"/>
          </a:solidFill>
          <a:ln w="3810">
            <a:solidFill>
              <a:srgbClr val="EAEC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28800" y="349300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181D"/>
                </a:solidFill>
              </a:rPr>
              <a:t>FO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450592" y="3511296"/>
            <a:ext cx="1042416" cy="201168"/>
          </a:xfrm>
          <a:prstGeom prst="rect">
            <a:avLst/>
          </a:prstGeom>
          <a:solidFill>
            <a:srgbClr val="FF3B30">
              <a:alpha val="70000"/>
            </a:srgbClr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39312" y="3511296"/>
            <a:ext cx="1042416" cy="201168"/>
          </a:xfrm>
          <a:prstGeom prst="rect">
            <a:avLst/>
          </a:prstGeom>
          <a:solidFill>
            <a:srgbClr val="FF3B30">
              <a:alpha val="70000"/>
            </a:srgbClr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28032" y="3511296"/>
            <a:ext cx="1042416" cy="201168"/>
          </a:xfrm>
          <a:prstGeom prst="rect">
            <a:avLst/>
          </a:prstGeom>
          <a:solidFill>
            <a:srgbClr val="FFC400">
              <a:alpha val="70000"/>
            </a:srgbClr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16752" y="3511296"/>
            <a:ext cx="1042416" cy="201168"/>
          </a:xfrm>
          <a:prstGeom prst="rect">
            <a:avLst/>
          </a:prstGeom>
          <a:solidFill>
            <a:srgbClr val="FFC400">
              <a:alpha val="70000"/>
            </a:srgbClr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205472" y="3511296"/>
            <a:ext cx="1042416" cy="201168"/>
          </a:xfrm>
          <a:prstGeom prst="rect">
            <a:avLst/>
          </a:prstGeom>
          <a:solidFill>
            <a:srgbClr val="FF3B30">
              <a:alpha val="70000"/>
            </a:srgbClr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28800" y="3794760"/>
            <a:ext cx="548640" cy="274320"/>
          </a:xfrm>
          <a:prstGeom prst="rect">
            <a:avLst/>
          </a:prstGeom>
          <a:solidFill>
            <a:srgbClr val="F6F7F9"/>
          </a:solidFill>
          <a:ln w="3810">
            <a:solidFill>
              <a:srgbClr val="EAEC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828800" y="38130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181D"/>
                </a:solidFill>
              </a:rPr>
              <a:t>의류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450592" y="3831336"/>
            <a:ext cx="1042416" cy="201168"/>
          </a:xfrm>
          <a:prstGeom prst="rect">
            <a:avLst/>
          </a:prstGeom>
          <a:solidFill>
            <a:srgbClr val="FFC400">
              <a:alpha val="70000"/>
            </a:srgbClr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639312" y="3831336"/>
            <a:ext cx="1042416" cy="201168"/>
          </a:xfrm>
          <a:prstGeom prst="rect">
            <a:avLst/>
          </a:prstGeom>
          <a:solidFill>
            <a:srgbClr val="FF3B30">
              <a:alpha val="70000"/>
            </a:srgbClr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28032" y="3831336"/>
            <a:ext cx="1042416" cy="201168"/>
          </a:xfrm>
          <a:prstGeom prst="rect">
            <a:avLst/>
          </a:prstGeom>
          <a:solidFill>
            <a:srgbClr val="FF3B30">
              <a:alpha val="70000"/>
            </a:srgbClr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016752" y="3831336"/>
            <a:ext cx="1042416" cy="201168"/>
          </a:xfrm>
          <a:prstGeom prst="rect">
            <a:avLst/>
          </a:prstGeom>
          <a:solidFill>
            <a:srgbClr val="FFC400">
              <a:alpha val="70000"/>
            </a:srgbClr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205472" y="3831336"/>
            <a:ext cx="1042416" cy="201168"/>
          </a:xfrm>
          <a:prstGeom prst="rect">
            <a:avLst/>
          </a:prstGeom>
          <a:solidFill>
            <a:srgbClr val="00A693">
              <a:alpha val="70000"/>
            </a:srgbClr>
          </a:solidFill>
          <a:ln w="12700">
            <a:solidFill>
              <a:srgbClr val="00A69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828800" y="45720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E9C"/>
                </a:solidFill>
              </a:rPr>
              <a:t>신호등:  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496312" y="4599432"/>
            <a:ext cx="128016" cy="128016"/>
          </a:xfrm>
          <a:prstGeom prst="ellipse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606040" y="4572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E9C"/>
                </a:solidFill>
              </a:rPr>
              <a:t>빨간불 — 즉시 위험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690872" y="4599432"/>
            <a:ext cx="128016" cy="128016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00600" y="4572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E9C"/>
                </a:solidFill>
              </a:rPr>
              <a:t>노란불 — 모니터링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885432" y="4599432"/>
            <a:ext cx="128016" cy="128016"/>
          </a:xfrm>
          <a:prstGeom prst="ellipse">
            <a:avLst/>
          </a:prstGeom>
          <a:solidFill>
            <a:srgbClr val="16C46A"/>
          </a:solidFill>
          <a:ln w="12700">
            <a:solidFill>
              <a:srgbClr val="16C46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95160" y="4572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8E9C"/>
                </a:solidFill>
              </a:rPr>
              <a:t>파란불 — EBG통과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62E6"/>
                </a:solidFill>
              </a:rPr>
              <a:t>AI 스코어링 엔진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81D"/>
                </a:solidFill>
              </a:rPr>
              <a:t>scoreTalent V8.0 — 6개 차원 인재-포스트 매칭 엔진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0" cy="50292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62E6"/>
                </a:solidFill>
              </a:rPr>
              <a:t>25%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234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</a:rPr>
              <a:t>현직자 앵커 유사도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463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E9C"/>
                </a:solidFill>
              </a:rPr>
              <a:t>현직자 역량 프로파일과의 6차원 코사인 유사도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1344168"/>
            <a:ext cx="3566160" cy="182880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344168"/>
            <a:ext cx="3566160" cy="182880"/>
          </a:xfrm>
          <a:prstGeom prst="rect">
            <a:avLst/>
          </a:prstGeom>
          <a:solidFill>
            <a:srgbClr val="3B62E6"/>
          </a:solidFill>
          <a:ln w="12700">
            <a:solidFill>
              <a:srgbClr val="3B62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764792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764792"/>
            <a:ext cx="640080" cy="50292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7647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62E6"/>
                </a:solidFill>
              </a:rPr>
              <a:t>20%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1810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</a:rPr>
              <a:t>포스트 특수성 부합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20391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E9C"/>
                </a:solidFill>
              </a:rPr>
              <a:t>필수 직무 경험 보유 여부 (미부합 시 패널티 적용)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1920240"/>
            <a:ext cx="3566160" cy="182880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920240"/>
            <a:ext cx="2852928" cy="182880"/>
          </a:xfrm>
          <a:prstGeom prst="rect">
            <a:avLst/>
          </a:prstGeom>
          <a:solidFill>
            <a:srgbClr val="3B62E6"/>
          </a:solidFill>
          <a:ln w="12700">
            <a:solidFill>
              <a:srgbClr val="3B62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340864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340864"/>
            <a:ext cx="640080" cy="50292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34086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62E6"/>
                </a:solidFill>
              </a:rPr>
              <a:t>20%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23865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</a:rPr>
              <a:t>핵심 역량 가중 점수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26151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E9C"/>
                </a:solidFill>
              </a:rPr>
              <a:t>열정·집요함·전략·시스템사고·팀워크·리더십 가중 평균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496312"/>
            <a:ext cx="3566160" cy="182880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496312"/>
            <a:ext cx="2852928" cy="182880"/>
          </a:xfrm>
          <a:prstGeom prst="rect">
            <a:avLst/>
          </a:prstGeom>
          <a:solidFill>
            <a:srgbClr val="3B62E6"/>
          </a:solidFill>
          <a:ln w="12700">
            <a:solidFill>
              <a:srgbClr val="3B62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916936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916936"/>
            <a:ext cx="640080" cy="50292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91693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62E6"/>
                </a:solidFill>
              </a:rPr>
              <a:t>13%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" y="29626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</a:rPr>
              <a:t>DISC 적합도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3000" y="31912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E9C"/>
                </a:solidFill>
              </a:rPr>
              <a:t>포스트 선호 DISC 유형과의 일치율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3072384"/>
            <a:ext cx="3566160" cy="182880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072384"/>
            <a:ext cx="1854403" cy="18288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3493008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3493008"/>
            <a:ext cx="640080" cy="50292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49300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62E6"/>
                </a:solidFill>
              </a:rPr>
              <a:t>12%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43000" y="3538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</a:rPr>
              <a:t>강점 매칭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43000" y="37673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E9C"/>
                </a:solidFill>
              </a:rPr>
              <a:t>갤럽 강점 필수/선호 항목 일치 여부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3648456"/>
            <a:ext cx="3566160" cy="182880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3648456"/>
            <a:ext cx="1711757" cy="18288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406908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65760" y="4069080"/>
            <a:ext cx="640080" cy="50292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690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62E6"/>
                </a:solidFill>
              </a:rPr>
              <a:t>10%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143000" y="4114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</a:rPr>
              <a:t>즉시성 · 준비도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43000" y="43434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E9C"/>
                </a:solidFill>
              </a:rPr>
              <a:t>EBG 통과, 최근 3개년 평가 등급, 직급 보정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46320" y="4224528"/>
            <a:ext cx="3566160" cy="182880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46320" y="4224528"/>
            <a:ext cx="1426464" cy="182880"/>
          </a:xfrm>
          <a:prstGeom prst="rect">
            <a:avLst/>
          </a:prstGeom>
          <a:solidFill>
            <a:srgbClr val="74BCFF"/>
          </a:solidFill>
          <a:ln w="12700">
            <a:solidFill>
              <a:srgbClr val="74BC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C46A"/>
                </a:solidFill>
              </a:rPr>
              <a:t>즉시 검토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≥ 60점    </a:t>
            </a:r>
            <a:pPr algn="ctr" indent="0" marL="0">
              <a:buNone/>
            </a:pPr>
            <a:r>
              <a:rPr lang="en-US" sz="1200" dirty="0">
                <a:solidFill>
                  <a:srgbClr val="878E9C"/>
                </a:solidFill>
              </a:rPr>
              <a:t> | </a:t>
            </a:r>
            <a:pPr algn="ctr" indent="0" marL="0">
              <a:buNone/>
            </a:pPr>
            <a:r>
              <a:rPr lang="en-US" sz="1200" b="1" dirty="0">
                <a:solidFill>
                  <a:srgbClr val="FFC400"/>
                </a:solidFill>
              </a:rPr>
              <a:t>  육성 후보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45~59점    </a:t>
            </a:r>
            <a:pPr algn="ctr" indent="0" marL="0">
              <a:buNone/>
            </a:pPr>
            <a:r>
              <a:rPr lang="en-US" sz="1200" dirty="0">
                <a:solidFill>
                  <a:srgbClr val="878E9C"/>
                </a:solidFill>
              </a:rPr>
              <a:t> | </a:t>
            </a:r>
            <a:pPr algn="ctr" indent="0" marL="0">
              <a:buNone/>
            </a:pPr>
            <a:r>
              <a:rPr lang="en-US" sz="1200" b="1" dirty="0">
                <a:solidFill>
                  <a:srgbClr val="FF3B30"/>
                </a:solidFill>
              </a:rPr>
              <a:t>  후순위/보류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&lt; 45점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62E6"/>
                </a:solidFill>
              </a:rPr>
              <a:t>경영진 대시보드 v2.0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81D"/>
                </a:solidFill>
              </a:rPr>
              <a:t>경영진 대시보드 — 인재 리스크를 경영 언어로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1920240" cy="292608"/>
          </a:xfrm>
          <a:prstGeom prst="rect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8872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400"/>
                </a:solidFill>
              </a:rPr>
              <a:t>조직 건강도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1536192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400"/>
                </a:solidFill>
              </a:rPr>
              <a:t>62점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75488" y="228600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E9C"/>
                </a:solidFill>
              </a:rPr>
              <a:t>주의 수준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87168" y="118872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87168" y="1188720"/>
            <a:ext cx="1920240" cy="292608"/>
          </a:xfrm>
          <a:prstGeom prst="rect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6896" y="118872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3B30"/>
                </a:solidFill>
              </a:rPr>
              <a:t>승계 준비율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96896" y="1536192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3B30"/>
                </a:solidFill>
              </a:rPr>
              <a:t>33%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596896" y="228600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E9C"/>
                </a:solidFill>
              </a:rPr>
              <a:t>3개 조직만 후계자 지정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08576" y="118872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1188720"/>
            <a:ext cx="1920240" cy="292608"/>
          </a:xfrm>
          <a:prstGeom prst="rect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18872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3B30"/>
                </a:solidFill>
              </a:rPr>
              <a:t>즉시 리스크 조직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18304" y="1536192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3B30"/>
                </a:solidFill>
              </a:rPr>
              <a:t>2개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718304" y="228600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E9C"/>
                </a:solidFill>
              </a:rPr>
              <a:t>FO · AI 조직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29984" y="118872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9984" y="1188720"/>
            <a:ext cx="1920240" cy="292608"/>
          </a:xfrm>
          <a:prstGeom prst="rect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9712" y="118872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400"/>
                </a:solidFill>
              </a:rPr>
              <a:t>빨간불 포스트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39712" y="1536192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400"/>
                </a:solidFill>
              </a:rPr>
              <a:t>17개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839712" y="228600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E9C"/>
                </a:solidFill>
              </a:rPr>
              <a:t>전체 매트릭스 집계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29077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</a:rPr>
              <a:t>조직별 리스크 현황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46120"/>
          <a:ext cx="8412480" cy="169164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조직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건강도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승계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비즈니스 영향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</a:rPr>
                        <a:t>유통BG / LV6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</a:rPr>
                        <a:t>60점 · 주의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</a:rPr>
                        <a:t>✕ 미지정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</a:rPr>
                        <a:t>BG 총괄 공백 → 전사 전략 방향성 흔들림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</a:rPr>
                        <a:t>FO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</a:rPr>
                        <a:t>40점 · 위험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</a:rPr>
                        <a:t>✕ 미지정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</a:rPr>
                        <a:t>재무 총괄 공백 → 손익 모니터링 공백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</a:rPr>
                        <a:t>AI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</a:rPr>
                        <a:t>44점 · 위험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</a:rPr>
                        <a:t>○ 지정됨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</a:rPr>
                        <a:t>AI 총괄 공백 → 전 직무 AI 전환 중단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</a:rPr>
                        <a:t>의류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</a:rPr>
                        <a:t>50점 · 주의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</a:rPr>
                        <a:t>✕ 미지정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</a:rPr>
                        <a:t>상품 총괄 공백 → 시즌 MD 차질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</a:rPr>
                        <a:t>HO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</a:rPr>
                        <a:t>67점 · 안정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</a:rPr>
                        <a:t>○ 지정됨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9"/>
                          </a:solidFill>
                        </a:rPr>
                        <a:t>인사 총괄 공백 → A인재 확보 속도 저하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48646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40AF"/>
                </a:solidFill>
              </a:rPr>
              <a:t>"승계 공백이 집중된 BG 총괄·재무 포스트는 12개월 내 교체 리스크가 현실화될 수 있습니다." — 지주 CHO 시뮬레이션 인사이트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B62E6">
              <a:alpha val="12000"/>
            </a:srgbClr>
          </a:solidFill>
          <a:ln w="12700">
            <a:solidFill>
              <a:srgbClr val="3B62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</a:rPr>
              <a:t>v4.0 PREVIEW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인재 교체 시뮬레이터 — 사람을 바꾸면 비즈니스가 바뀐다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특정 포스트에 후보를 넣었을 때 리스크 변화와 비즈니스 영향을 데이터로 미리 본다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3063240"/>
          </a:xfrm>
          <a:prstGeom prst="rect">
            <a:avLst/>
          </a:prstGeom>
          <a:solidFill>
            <a:srgbClr val="1E2A5E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3B30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8288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포스트 선택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20482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E9C"/>
                </a:solidFill>
              </a:rPr>
              <a:t>AI 총괄 (red)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C46A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86200" y="18288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후보 선택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86200" y="20482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E9C"/>
                </a:solidFill>
              </a:rPr>
              <a:t>오동하 대리 67점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400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18288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시뮬레이션 결과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29400" y="20482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E9C"/>
                </a:solidFill>
              </a:rPr>
              <a:t>리스크 변화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2423160"/>
            <a:ext cx="2468880" cy="1645920"/>
          </a:xfrm>
          <a:prstGeom prst="rect">
            <a:avLst/>
          </a:prstGeom>
          <a:solidFill>
            <a:srgbClr val="FDECEC"/>
          </a:solidFill>
          <a:ln w="19050">
            <a:solidFill>
              <a:srgbClr val="FF3B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450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</a:rPr>
              <a:t>교체 전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27249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D"/>
                </a:solidFill>
              </a:rPr>
              <a:t>AI 총괄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25880" y="3090672"/>
            <a:ext cx="1188720" cy="411480"/>
          </a:xfrm>
          <a:prstGeom prst="rect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309067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고위험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F49"/>
                </a:solidFill>
              </a:rPr>
              <a:t>빨간불 · 즉시 교체 필요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38587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F49"/>
                </a:solidFill>
              </a:rPr>
              <a:t>AI 전환 프로젝트 중단 위험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91840" y="3246120"/>
            <a:ext cx="7772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ysDot"/>
          </a:ln>
        </p:spPr>
      </p:sp>
      <p:sp>
        <p:nvSpPr>
          <p:cNvPr id="24" name="Text 22"/>
          <p:cNvSpPr/>
          <p:nvPr/>
        </p:nvSpPr>
        <p:spPr>
          <a:xfrm>
            <a:off x="3840480" y="31089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343400" y="2423160"/>
            <a:ext cx="2468880" cy="1645920"/>
          </a:xfrm>
          <a:prstGeom prst="rect">
            <a:avLst/>
          </a:prstGeom>
          <a:solidFill>
            <a:srgbClr val="E4F8EE"/>
          </a:solidFill>
          <a:ln w="19050">
            <a:solidFill>
              <a:srgbClr val="16C4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43400" y="2450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C46A"/>
                </a:solidFill>
              </a:rPr>
              <a:t>교체 후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343400" y="27249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D"/>
                </a:solidFill>
              </a:rPr>
              <a:t>오동하 대리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83480" y="3090672"/>
            <a:ext cx="1188720" cy="411480"/>
          </a:xfrm>
          <a:prstGeom prst="rect">
            <a:avLst/>
          </a:prstGeom>
          <a:solidFill>
            <a:srgbClr val="16C46A"/>
          </a:solidFill>
          <a:ln w="12700">
            <a:solidFill>
              <a:srgbClr val="16C4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09067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저위험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343400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F49"/>
                </a:solidFill>
              </a:rPr>
              <a:t>종합 67점 · 즉시 검토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43400" y="38587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F49"/>
                </a:solidFill>
              </a:rPr>
              <a:t>AI 프로젝트 연속성 확보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86600" y="2423160"/>
            <a:ext cx="1371600" cy="1645920"/>
          </a:xfrm>
          <a:prstGeom prst="rect">
            <a:avLst/>
          </a:prstGeom>
          <a:solidFill>
            <a:srgbClr val="E4F8EE"/>
          </a:solidFill>
          <a:ln w="12700">
            <a:solidFill>
              <a:srgbClr val="16C4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86600" y="2514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C46A"/>
                </a:solidFill>
              </a:rPr>
              <a:t>비즈니스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6C46A"/>
                </a:solidFill>
              </a:rPr>
              <a:t>영향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150608" y="29443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F49"/>
                </a:solidFill>
              </a:rPr>
              <a:t>• 공백 1개월 내 최소화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150608" y="32644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F49"/>
                </a:solidFill>
              </a:rPr>
              <a:t>• AI 프로젝트 연속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150608" y="35844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F49"/>
                </a:solidFill>
              </a:rPr>
              <a:t>• 즉시 투입 가능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62E6"/>
                </a:solidFill>
              </a:rPr>
              <a:t>제품 로드맵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81D"/>
                </a:solidFill>
              </a:rPr>
              <a:t>4단계 제품 로드맵 — 이랜드에서 시장으로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8046720" cy="54864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8448" y="1600200"/>
            <a:ext cx="256032" cy="256032"/>
          </a:xfrm>
          <a:prstGeom prst="ellipse">
            <a:avLst/>
          </a:prstGeom>
          <a:solidFill>
            <a:srgbClr val="16C46A"/>
          </a:solidFill>
          <a:ln w="12700">
            <a:solidFill>
              <a:srgbClr val="16C4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93392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16C46A"/>
          </a:solidFill>
          <a:ln w="12700">
            <a:solidFill>
              <a:srgbClr val="16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93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v1.0  현재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359152"/>
            <a:ext cx="17830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C46A"/>
                </a:solidFill>
              </a:rPr>
              <a:t>CHRO · HRBP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" y="2679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</a:rPr>
              <a:t>이랜드 유통BG 내부 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31272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F49"/>
                </a:solidFill>
              </a:rPr>
              <a:t>· 핵심 포스트 승계 매트릭스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8368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F49"/>
                </a:solidFill>
              </a:rPr>
              <a:t>· AI 후보 추천 (scoreTalent V8.0)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8368" y="38221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F49"/>
                </a:solidFill>
              </a:rPr>
              <a:t>· 외부 인재 파이프라인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19856" y="1600200"/>
            <a:ext cx="256032" cy="256032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61488" y="1993392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61488" y="1993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v2.0  완성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15768" y="2359152"/>
            <a:ext cx="17830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79776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CEO · CHO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79776" y="2679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</a:rPr>
              <a:t>경영진 리포팅 레이어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79776" y="31272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F49"/>
                </a:solidFill>
              </a:rPr>
              <a:t>· 조직 건강도 대시보드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79776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F49"/>
                </a:solidFill>
              </a:rPr>
              <a:t>· 승계 준비율 KPI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79776" y="38221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F49"/>
                </a:solidFill>
              </a:rPr>
              <a:t>· 비즈니스 리스크 보고서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41264" y="1600200"/>
            <a:ext cx="256032" cy="256032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82896" y="1993392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EAECF0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1993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78E9C"/>
                </a:solidFill>
              </a:rPr>
              <a:t>v3.0  Next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37176" y="2359152"/>
            <a:ext cx="1783080" cy="2560320"/>
          </a:xfrm>
          <a:prstGeom prst="rect">
            <a:avLst/>
          </a:prstGeom>
          <a:solidFill>
            <a:srgbClr val="F6F7F9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01184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C400"/>
                </a:solidFill>
              </a:rPr>
              <a:t>중대형 기업 HR팀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01184" y="2679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</a:rPr>
              <a:t>외부 B2B SaaS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01184" y="31272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E9C"/>
                </a:solidFill>
              </a:rPr>
              <a:t>· 멀티 테넌트 아키텍처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01184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E9C"/>
                </a:solidFill>
              </a:rPr>
              <a:t>· 조직 진단 서비스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01184" y="38221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E9C"/>
                </a:solidFill>
              </a:rPr>
              <a:t>· PDF 리포트 자동 생성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662672" y="1600200"/>
            <a:ext cx="256032" cy="256032"/>
          </a:xfrm>
          <a:prstGeom prst="ellipse">
            <a:avLst/>
          </a:prstGeom>
          <a:solidFill>
            <a:srgbClr val="9370DB"/>
          </a:solidFill>
          <a:ln w="12700">
            <a:solidFill>
              <a:srgbClr val="9370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04304" y="1993392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EAECF0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04304" y="1993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78E9C"/>
                </a:solidFill>
              </a:rPr>
              <a:t>v4.0  Vision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58584" y="2359152"/>
            <a:ext cx="1783080" cy="2560320"/>
          </a:xfrm>
          <a:prstGeom prst="rect">
            <a:avLst/>
          </a:prstGeom>
          <a:solidFill>
            <a:srgbClr val="F6F7F9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022592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70DB"/>
                </a:solidFill>
              </a:rPr>
              <a:t>경영진 · 이사회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022592" y="2679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</a:rPr>
              <a:t>인재-비즈니스 시뮬레이션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22592" y="31272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E9C"/>
                </a:solidFill>
              </a:rPr>
              <a:t>· 인재 교체 시 성과 예측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022592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E9C"/>
                </a:solidFill>
              </a:rPr>
              <a:t>· AI 기반 승계 시나리오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022592" y="38221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8E9C"/>
                </a:solidFill>
              </a:rPr>
              <a:t>· 이사회 보고용 Executive Summary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62E6"/>
                </a:solidFill>
              </a:rPr>
              <a:t>페르소나 인터뷰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81D"/>
                </a:solidFill>
              </a:rPr>
              <a:t>페르소나 인터뷰 — "실제로 이런 니즈가 있었습니다"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40AF"/>
                </a:solidFill>
              </a:rPr>
              <a:t>※ 아래 인터뷰는 실제 사용자가 아닌 가상 페르소나를 기반으로 한 시뮬레이션입니다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44752" y="1536192"/>
            <a:ext cx="502920" cy="502920"/>
          </a:xfrm>
          <a:prstGeom prst="ellipse">
            <a:avLst/>
          </a:prstGeom>
          <a:solidFill>
            <a:srgbClr val="1E40AF">
              <a:alpha val="85000"/>
            </a:srgbClr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44752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D"/>
                </a:solidFill>
              </a:rPr>
              <a:t>김지훈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23957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78E9C"/>
                </a:solidFill>
              </a:rPr>
              <a:t>CHO, 유통BG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267919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A3F49"/>
                </a:solidFill>
              </a:rPr>
              <a:t>"핵심 포스트 30개 중 어디가 위험한지 엑셀 파일 3개를 열어봐야 알 수 있었어요. 이제는 로그인하면 바로 보입니다."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" y="3675888"/>
            <a:ext cx="2331720" cy="256032"/>
          </a:xfrm>
          <a:prstGeom prst="rect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6758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3B30"/>
                </a:solidFill>
              </a:rPr>
              <a:t>✕  매월 엑셀 수작업 리포트 → 2일 소요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0352" y="3977640"/>
            <a:ext cx="2331720" cy="256032"/>
          </a:xfrm>
          <a:prstGeom prst="rect">
            <a:avLst/>
          </a:prstGeom>
          <a:solidFill>
            <a:srgbClr val="E4F8EE"/>
          </a:solidFill>
          <a:ln w="12700">
            <a:solidFill>
              <a:srgbClr val="E4F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9776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C46A"/>
                </a:solidFill>
              </a:rPr>
              <a:t>✓  실시간 신호등 대시보드 → 5분 확인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141732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79392" y="1536192"/>
            <a:ext cx="502920" cy="502920"/>
          </a:xfrm>
          <a:prstGeom prst="ellipse">
            <a:avLst/>
          </a:prstGeom>
          <a:solidFill>
            <a:srgbClr val="16C46A">
              <a:alpha val="85000"/>
            </a:srgbClr>
          </a:solidFill>
          <a:ln w="12700">
            <a:solidFill>
              <a:srgbClr val="16C4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9392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이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64992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D"/>
                </a:solidFill>
              </a:rPr>
              <a:t>이수진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64992" y="23957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78E9C"/>
                </a:solidFill>
              </a:rPr>
              <a:t>인사실장, 의류사업부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64992" y="267919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A3F49"/>
                </a:solidFill>
              </a:rPr>
              <a:t>"팀장 자리가 갑자기 비면 누굴 올려야 할지 감으로 결정했어요. 이젠 점수와 이유가 나오니 설득하기 훨씬 쉽습니다."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64992" y="3675888"/>
            <a:ext cx="2331720" cy="256032"/>
          </a:xfrm>
          <a:prstGeom prst="rect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36758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3B30"/>
                </a:solidFill>
              </a:rPr>
              <a:t>✕  인사 발령 논리 부재 → 잦은 이의제기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64992" y="3977640"/>
            <a:ext cx="2331720" cy="256032"/>
          </a:xfrm>
          <a:prstGeom prst="rect">
            <a:avLst/>
          </a:prstGeom>
          <a:solidFill>
            <a:srgbClr val="E4F8EE"/>
          </a:solidFill>
          <a:ln w="12700">
            <a:solidFill>
              <a:srgbClr val="E4F8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39776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C46A"/>
                </a:solidFill>
              </a:rPr>
              <a:t>✓  AI 추천 근거 제시 → 합의 시간 50% 단축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141732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14032" y="1536192"/>
            <a:ext cx="502920" cy="502920"/>
          </a:xfrm>
          <a:prstGeom prst="ellipse">
            <a:avLst/>
          </a:prstGeom>
          <a:solidFill>
            <a:srgbClr val="FFC400">
              <a:alpha val="85000"/>
            </a:srgbClr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14032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박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99632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D"/>
                </a:solidFill>
              </a:rPr>
              <a:t>박민수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99632" y="23957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78E9C"/>
                </a:solidFill>
              </a:rPr>
              <a:t>HRBP, HO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99632" y="267919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A3F49"/>
                </a:solidFill>
              </a:rPr>
              <a:t>"외부 후보를 이력서 10장 받아서 엑셀에 정리하는 게 하루 일이었어요. 이제 붙여넣기 하면 점수가 나옵니다."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99632" y="3675888"/>
            <a:ext cx="2331720" cy="256032"/>
          </a:xfrm>
          <a:prstGeom prst="rect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9632" y="36758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3B30"/>
                </a:solidFill>
              </a:rPr>
              <a:t>✕  수동 이력서 정리 → 3시간/건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99632" y="3977640"/>
            <a:ext cx="2331720" cy="256032"/>
          </a:xfrm>
          <a:prstGeom prst="rect">
            <a:avLst/>
          </a:prstGeom>
          <a:solidFill>
            <a:srgbClr val="E4F8EE"/>
          </a:solidFill>
          <a:ln w="12700">
            <a:solidFill>
              <a:srgbClr val="E4F8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9632" y="39776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C46A"/>
                </a:solidFill>
              </a:rPr>
              <a:t>✓  AI 파싱 + 자동 스코어링 → 10분/건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62E6"/>
                </a:solidFill>
              </a:rPr>
              <a:t>비즈니스 모델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81D"/>
                </a:solidFill>
              </a:rPr>
              <a:t>수익 모델 — 내부 MVP에서 SaaS로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2697480" cy="5029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Stage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v1.0 ~ v2.0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D"/>
                </a:solidFill>
              </a:rPr>
              <a:t>이랜드 내부 검증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49"/>
                </a:solidFill>
              </a:rPr>
              <a:t>· 유통BG 파일럿 → 전사 확산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651760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49"/>
                </a:solidFill>
              </a:rPr>
              <a:t>· 성과 데이터 · 사용 패턴 확보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99923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49"/>
                </a:solidFill>
              </a:rPr>
              <a:t>· ROI: 인사결정 시간 단축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346704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49"/>
                </a:solidFill>
              </a:rPr>
              <a:t>· 핵심인재 이탈률 감소 증명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4462272"/>
            <a:ext cx="2423160" cy="256032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4622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내부 구축 비용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128016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280160"/>
            <a:ext cx="2697480" cy="502920"/>
          </a:xfrm>
          <a:prstGeom prst="rect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Stage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15727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v3.0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83280" y="18745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D"/>
                </a:solidFill>
              </a:rPr>
              <a:t>외부 B2B SaaS 론칭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383280" y="2304288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49"/>
                </a:solidFill>
              </a:rPr>
              <a:t>· 타겟: 임직원 500명+ 중대형 기업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83280" y="2651760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49"/>
                </a:solidFill>
              </a:rPr>
              <a:t>· 월 구독 300만 ~ 1,000만원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83280" y="299923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49"/>
                </a:solidFill>
              </a:rPr>
              <a:t>· 채널: HR컨설팅사 파트너십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83280" y="3346704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49"/>
                </a:solidFill>
              </a:rPr>
              <a:t>· 직접 영업 · 레퍼런스 확산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83280" y="4462272"/>
            <a:ext cx="2423160" cy="256032"/>
          </a:xfrm>
          <a:prstGeom prst="rect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44622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400"/>
                </a:solidFill>
              </a:rPr>
              <a:t>월 300~1,000만원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128016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1280160"/>
            <a:ext cx="2697480" cy="502920"/>
          </a:xfrm>
          <a:prstGeom prst="rect">
            <a:avLst/>
          </a:prstGeom>
          <a:solidFill>
            <a:srgbClr val="16C46A"/>
          </a:solidFill>
          <a:ln w="12700">
            <a:solidFill>
              <a:srgbClr val="16C4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Stage 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63640" y="15727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v4.0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63640" y="18745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D"/>
                </a:solidFill>
              </a:rPr>
              <a:t>프리미엄 경영 솔루션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263640" y="2304288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49"/>
                </a:solidFill>
              </a:rPr>
              <a:t>· 타겟: 대기업 경영진 · 이사회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63640" y="2651760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49"/>
                </a:solidFill>
              </a:rPr>
              <a:t>· 연간 계약 1억 ~ 5억원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63640" y="2999232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49"/>
                </a:solidFill>
              </a:rPr>
              <a:t>· 인재 의사결정 데이터 기반 전환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63640" y="3346704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49"/>
                </a:solidFill>
              </a:rPr>
              <a:t>· 유일한 비즈니스 시뮬레이션 플랫폼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63640" y="4462272"/>
            <a:ext cx="2423160" cy="256032"/>
          </a:xfrm>
          <a:prstGeom prst="rect">
            <a:avLst/>
          </a:prstGeom>
          <a:solidFill>
            <a:srgbClr val="E4F8EE"/>
          </a:solidFill>
          <a:ln w="12700">
            <a:solidFill>
              <a:srgbClr val="E4F8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44622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C46A"/>
                </a:solidFill>
              </a:rPr>
              <a:t>연 1억~5억원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108960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78E9C"/>
                </a:solidFill>
              </a:rPr>
              <a:t>→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989320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78E9C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62E6"/>
                </a:solidFill>
              </a:rPr>
              <a:t>다음 단계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81D"/>
                </a:solidFill>
              </a:rPr>
              <a:t>지금 바로 시작할 수 있습니다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685800" cy="1097280"/>
          </a:xfrm>
          <a:prstGeom prst="rect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685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3B30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3441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</a:rPr>
              <a:t>파일럿 승인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3B30"/>
                </a:solidFill>
              </a:rPr>
              <a:t>유통BG 실제 데이터 연동 · 2주 내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88720" y="19385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F49"/>
                </a:solidFill>
              </a:rPr>
              <a:t>각 법인 인사실장과 데이터 제공 협의. 샘플 데이터 → 실제 데이터 전환. 시연 환경에서 운영 환경으로 이전.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760720" y="1435608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F6F7F9"/>
          </a:solidFill>
          <a:ln w="6350">
            <a:solidFill>
              <a:srgbClr val="EAE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4356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3F49"/>
                </a:solidFill>
              </a:rPr>
              <a:t>담당: 각 법인 인사실장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760720" y="1801368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18013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3B30"/>
                </a:solidFill>
              </a:rPr>
              <a:t>2026. 06. 14 목표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46888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468880"/>
            <a:ext cx="685800" cy="109728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68880"/>
            <a:ext cx="685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25786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</a:rPr>
              <a:t>CHRO 보고 활용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29260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</a:rPr>
              <a:t>경영진 대시보드 월간 보고 즉시 활용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88720" y="31729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F49"/>
                </a:solidFill>
              </a:rPr>
              <a:t>경영진 대시보드를 HO 인사기획팀의 월간 HR 보고서에 연동. 인재 리스크를 수치로 보고하는 첫 케이스.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60720" y="2670048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F6F7F9"/>
          </a:solidFill>
          <a:ln w="6350">
            <a:solidFill>
              <a:srgbClr val="EAE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670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3F49"/>
                </a:solidFill>
              </a:rPr>
              <a:t>담당: HO 인사기획팀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760720" y="3035808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30358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2026. 06 월례 보고부터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70332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703320"/>
            <a:ext cx="685800" cy="1097280"/>
          </a:xfrm>
          <a:prstGeom prst="rect">
            <a:avLst/>
          </a:prstGeom>
          <a:solidFill>
            <a:srgbClr val="E4F8EE"/>
          </a:solidFill>
          <a:ln w="12700">
            <a:solidFill>
              <a:srgbClr val="E4F8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703320"/>
            <a:ext cx="685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C46A"/>
                </a:solidFill>
              </a:rPr>
              <a:t>03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88720" y="38130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</a:rPr>
              <a:t>v3.0 외부화 로드맵 수립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41605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C46A"/>
                </a:solidFill>
              </a:rPr>
              <a:t>시장 조사 · 경쟁사 분석 착수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88720" y="44074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F49"/>
                </a:solidFill>
              </a:rPr>
              <a:t>전략실 협업으로 HR SaaS 시장 규모 및 경쟁사 분석 착수. v3.0 BM 검증 및 MVP 범위 확정.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760720" y="3904488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F6F7F9"/>
          </a:solidFill>
          <a:ln w="6350">
            <a:solidFill>
              <a:srgbClr val="EAEC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3904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3F49"/>
                </a:solidFill>
              </a:rPr>
              <a:t>담당: 전략실 협업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760720" y="4270248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E4F8EE"/>
          </a:solidFill>
          <a:ln w="12700">
            <a:solidFill>
              <a:srgbClr val="E4F8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42702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C46A"/>
                </a:solidFill>
              </a:rPr>
              <a:t>2026 Q3 목표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457200"/>
            <a:ext cx="4572000" cy="4572000"/>
          </a:xfrm>
          <a:prstGeom prst="ellipse">
            <a:avLst/>
          </a:prstGeom>
          <a:solidFill>
            <a:srgbClr val="3B62E6">
              <a:alpha val="15000"/>
            </a:srgbClr>
          </a:solidFill>
          <a:ln w="12700">
            <a:solidFill>
              <a:srgbClr val="3B6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E40AF">
              <a:alpha val="20000"/>
            </a:srgbClr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B62E6"/>
          </a:solidFill>
          <a:ln w="12700">
            <a:solidFill>
              <a:srgbClr val="3B62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사람이 전략이다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02920" y="20848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</a:rPr>
              <a:t>인재 컨트롤타워는 HR의 언어를 경영의 언어로 바꿉니다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5943600" cy="27432"/>
          </a:xfrm>
          <a:prstGeom prst="rect">
            <a:avLst/>
          </a:prstGeom>
          <a:solidFill>
            <a:srgbClr val="3B62E6"/>
          </a:solidFill>
          <a:ln w="12700">
            <a:solidFill>
              <a:srgbClr val="3B62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907792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78E9C"/>
                </a:solidFill>
              </a:rPr>
              <a:t>핵심 포스트의 리스크를 숫자로, 후계자 준비도를 퍼센트로,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78E9C"/>
                </a:solidFill>
              </a:rPr>
              <a:t>인재 교체의 영향을 비즈니스 시나리오로 — 이제 HR도 데이터로 말합니다.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유통BG HO 인사기획팀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370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78E9C"/>
                </a:solidFill>
              </a:rPr>
              <a:t>2026. 05. 31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4526280"/>
            <a:ext cx="914400" cy="411480"/>
          </a:xfrm>
          <a:prstGeom prst="rect">
            <a:avLst/>
          </a:prstGeom>
          <a:solidFill>
            <a:srgbClr val="3B62E6"/>
          </a:solidFill>
          <a:ln w="12700">
            <a:solidFill>
              <a:srgbClr val="3B6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4526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유통BG 인재 컨트롤타워 제안서</dc:title>
  <dc:subject>PptxGenJS Presentation</dc:subject>
  <dc:creator>HO 인사기획팀</dc:creator>
  <cp:lastModifiedBy>HO 인사기획팀</cp:lastModifiedBy>
  <cp:revision>1</cp:revision>
  <dcterms:created xsi:type="dcterms:W3CDTF">2026-05-31T07:28:45Z</dcterms:created>
  <dcterms:modified xsi:type="dcterms:W3CDTF">2026-05-31T07:28:45Z</dcterms:modified>
</cp:coreProperties>
</file>